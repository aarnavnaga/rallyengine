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rc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20040"/>
            <a:ext cx="320040" cy="3200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1828800"/>
            <a:ext cx="731520" cy="50800"/>
          </a:xfrm>
          <a:prstGeom prst="rect">
            <a:avLst/>
          </a:prstGeom>
          <a:solidFill>
            <a:srgbClr val="78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0" b="1">
                <a:solidFill>
                  <a:srgbClr val="0A0A0A"/>
                </a:solidFill>
                <a:latin typeface="Inter"/>
              </a:rPr>
              <a:t>Creator Experts.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6B7280"/>
                </a:solidFill>
                <a:latin typeface="Inter"/>
              </a:rPr>
              <a:t>A new Expert Domain for Mercor.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9CA3AF"/>
                </a:solidFill>
                <a:latin typeface="Inter"/>
              </a:rPr>
              <a:t>A 90-day pilot. A half-day integration.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>
                <a:solidFill>
                  <a:srgbClr val="0A0A0A"/>
                </a:solidFill>
                <a:latin typeface="Inter"/>
              </a:rPr>
              <a:t>For Aaron Langerman, Strategic Ops.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A0A0A"/>
                </a:solidFill>
                <a:latin typeface="Inter"/>
              </a:rPr>
              <a:t>Logan Mann  +  Aarnav Nagabhirava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Inter"/>
              </a:rPr>
              <a:t>On Mercor's CUA-envs contract for Anthropic, under Drew Geoly.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3AF"/>
                </a:solidFill>
                <a:latin typeface="Inter"/>
              </a:rPr>
              <a:t>creator experts   ·   internal proposal for aaron langerman   ·   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rc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20040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spc="120">
                <a:solidFill>
                  <a:srgbClr val="7857FF"/>
                </a:solidFill>
                <a:latin typeface="Inter"/>
              </a:rPr>
              <a:t>WHY THIS. WHY NOW.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0A0A0A"/>
                </a:solidFill>
                <a:latin typeface="Inter"/>
              </a:rPr>
              <a:t>Three timers converging.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731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7857FF"/>
                </a:solidFill>
                <a:latin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1089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A0A0A"/>
                </a:solidFill>
                <a:latin typeface="Inter"/>
              </a:rPr>
              <a:t>Handshake AI takes Mercor's college funnel.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Inter"/>
              </a:rPr>
              <a:t>18M students. Cheaper RLHF labor.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69080"/>
            <a:ext cx="731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7857FF"/>
                </a:solidFill>
                <a:latin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4069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A0A0A"/>
                </a:solidFill>
                <a:latin typeface="Inter"/>
              </a:rPr>
              <a:t>Brand-voice RLHF — nobody owns it yet.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Inter"/>
              </a:rPr>
              <a:t>Anthropic / OpenAI demand opens ~6 months 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731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7857FF"/>
                </a:solidFill>
                <a:latin typeface="Inter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50292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A0A0A"/>
                </a:solidFill>
                <a:latin typeface="Inter"/>
              </a:rPr>
              <a:t>Mercor's own UGC funnel leaks to Meta ads.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Inter"/>
              </a:rPr>
              <a:t>$1M+/yr in CAC that creators could absorb.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3AF"/>
                </a:solidFill>
                <a:latin typeface="Inter"/>
              </a:rPr>
              <a:t>creator experts   ·   internal proposal for aaron langerman   ·   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rc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20040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spc="120">
                <a:solidFill>
                  <a:srgbClr val="7857FF"/>
                </a:solidFill>
                <a:latin typeface="Inter"/>
              </a:rPr>
              <a:t>PROOF +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0A0A0A"/>
                </a:solidFill>
                <a:latin typeface="Inter"/>
              </a:rPr>
              <a:t>The model is proven. Mercor has the moat.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9748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971800"/>
            <a:ext cx="49377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00" b="1" spc="120">
                <a:solidFill>
                  <a:srgbClr val="6B7280"/>
                </a:solidFill>
                <a:latin typeface="Inter"/>
              </a:rPr>
              <a:t>CLUELY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0" b="1">
                <a:solidFill>
                  <a:srgbClr val="0A0A0A"/>
                </a:solidFill>
                <a:latin typeface="Inter"/>
              </a:rPr>
              <a:t>$500K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Inter"/>
              </a:rPr>
              <a:t>creator bounty — all-time.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69748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 w="12700">
            <a:solidFill>
              <a:srgbClr val="78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971800"/>
            <a:ext cx="49377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00" b="1" spc="120">
                <a:solidFill>
                  <a:srgbClr val="7857FF"/>
                </a:solidFill>
                <a:latin typeface="Inter"/>
              </a:rPr>
              <a:t>MERCOR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0" b="1">
                <a:solidFill>
                  <a:srgbClr val="7857FF"/>
                </a:solidFill>
                <a:latin typeface="Inter"/>
              </a:rPr>
              <a:t>$1M / day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0A0A0A"/>
                </a:solidFill>
                <a:latin typeface="Inter"/>
              </a:rPr>
              <a:t>contractor wages — every 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Inter"/>
              </a:rPr>
              <a:t>Proven on UCSB + fraternity networks for real revenue. Mercor scales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3AF"/>
                </a:solidFill>
                <a:latin typeface="Inter"/>
              </a:rPr>
              <a:t>creator experts   ·   internal proposal for aaron langerman   ·   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rc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20040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spc="120">
                <a:solidFill>
                  <a:srgbClr val="7857FF"/>
                </a:solidFill>
                <a:latin typeface="Inter"/>
              </a:rPr>
              <a:t>THE PLAN + THE 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A0A0A"/>
                </a:solidFill>
                <a:latin typeface="Inter"/>
              </a:rPr>
              <a:t>Half a day to ship. 90 days to learn.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06040"/>
            <a:ext cx="2697480" cy="82296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 spc="120">
                <a:solidFill>
                  <a:srgbClr val="7857FF"/>
                </a:solidFill>
                <a:latin typeface="Inter"/>
              </a:rPr>
              <a:t>01  </a:t>
            </a:r>
            <a:r>
              <a:rPr sz="1600" b="1">
                <a:solidFill>
                  <a:srgbClr val="0A0A0A"/>
                </a:solidFill>
                <a:latin typeface="Inter"/>
              </a:rPr>
              <a:t>Greenlight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606040"/>
            <a:ext cx="2697480" cy="82296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 spc="120">
                <a:solidFill>
                  <a:srgbClr val="7857FF"/>
                </a:solidFill>
                <a:latin typeface="Inter"/>
              </a:rPr>
              <a:t>02  </a:t>
            </a:r>
            <a:r>
              <a:rPr sz="1600" b="1">
                <a:solidFill>
                  <a:srgbClr val="0A0A0A"/>
                </a:solidFill>
                <a:latin typeface="Inter"/>
              </a:rPr>
              <a:t>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606040"/>
            <a:ext cx="2697480" cy="82296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 spc="120">
                <a:solidFill>
                  <a:srgbClr val="7857FF"/>
                </a:solidFill>
                <a:latin typeface="Inter"/>
              </a:rPr>
              <a:t>03  </a:t>
            </a:r>
            <a:r>
              <a:rPr sz="1600" b="1">
                <a:solidFill>
                  <a:srgbClr val="0A0A0A"/>
                </a:solidFill>
                <a:latin typeface="Inter"/>
              </a:rPr>
              <a:t>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2606040"/>
            <a:ext cx="2697480" cy="82296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76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 spc="120">
                <a:solidFill>
                  <a:srgbClr val="7857FF"/>
                </a:solidFill>
                <a:latin typeface="Inter"/>
              </a:rPr>
              <a:t>04  </a:t>
            </a:r>
            <a:r>
              <a:rPr sz="1600" b="1">
                <a:solidFill>
                  <a:srgbClr val="0A0A0A"/>
                </a:solidFill>
                <a:latin typeface="Inter"/>
              </a:rPr>
              <a:t>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spc="120">
                <a:solidFill>
                  <a:srgbClr val="7857FF"/>
                </a:solidFill>
                <a:latin typeface="Inter"/>
              </a:rPr>
              <a:t>WHO AARON SHOULD CONNECT US WITH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069080"/>
            <a:ext cx="548640" cy="548640"/>
          </a:xfrm>
          <a:prstGeom prst="ellipse">
            <a:avLst/>
          </a:prstGeom>
          <a:solidFill>
            <a:srgbClr val="E5E7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un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69080"/>
            <a:ext cx="548640" cy="548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71600" y="406908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A0A0A"/>
                </a:solidFill>
                <a:latin typeface="Inter"/>
              </a:rPr>
              <a:t>Luna Aizarani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GM, Growth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7857FF"/>
                </a:solidFill>
                <a:latin typeface="Inter"/>
              </a:rPr>
              <a:t>Owns Mercor's expert pipeline.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782312"/>
            <a:ext cx="548640" cy="548640"/>
          </a:xfrm>
          <a:prstGeom prst="ellipse">
            <a:avLst/>
          </a:prstGeom>
          <a:solidFill>
            <a:srgbClr val="E5E7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jorda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782312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71600" y="4782312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A0A0A"/>
                </a:solidFill>
                <a:latin typeface="Inter"/>
              </a:rPr>
              <a:t>Jordan Winawer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GM (ex-Scale AI verticals)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7857FF"/>
                </a:solidFill>
                <a:latin typeface="Inter"/>
              </a:rPr>
              <a:t>Shipped Scale's GenAI vertical.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5495544"/>
            <a:ext cx="548640" cy="548640"/>
          </a:xfrm>
          <a:prstGeom prst="ellipse">
            <a:avLst/>
          </a:prstGeom>
          <a:solidFill>
            <a:srgbClr val="E5E7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ddi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495544"/>
            <a:ext cx="548640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71600" y="5495544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A0A0A"/>
                </a:solidFill>
                <a:latin typeface="Inter"/>
              </a:rPr>
              <a:t>Eddie Huang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  <a:latin typeface="Inter"/>
              </a:rPr>
              <a:t>PM, Growth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7857FF"/>
                </a:solidFill>
                <a:latin typeface="Inter"/>
              </a:rPr>
              <a:t>Builds the growth surface.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3AF"/>
                </a:solidFill>
                <a:latin typeface="Inter"/>
              </a:rPr>
              <a:t>creator experts   ·   internal proposal for aaron langerman   ·   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rc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20040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spc="120">
                <a:solidFill>
                  <a:srgbClr val="7857FF"/>
                </a:solidFill>
                <a:latin typeface="Inter"/>
              </a:rPr>
              <a:t>NOW →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>
                <a:solidFill>
                  <a:srgbClr val="0A0A0A"/>
                </a:solidFill>
                <a:latin typeface="Inter"/>
              </a:rPr>
              <a:t>Slides set the case.
The demo proves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0A0A0A"/>
                </a:solidFill>
                <a:latin typeface="Inter"/>
              </a:rPr>
              <a:t>Logan as creator — real 22.7K-follower TikTok inside Mercor's stepper.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A0A0A"/>
                </a:solidFill>
                <a:latin typeface="Inter"/>
              </a:rPr>
              <a:t>Aaron as admin — RAG cites real posts by URL. Persona outreach. Live sim.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0"/>
            <a:ext cx="10972800" cy="594360"/>
          </a:xfrm>
          <a:prstGeom prst="roundRect">
            <a:avLst>
              <a:gd name="adj" fmla="val 40000"/>
            </a:avLst>
          </a:prstGeom>
          <a:solidFill>
            <a:srgbClr val="78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"/>
              </a:rPr>
              <a:t>Live: musing-maxwell-84ed29.vercel.app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3AF"/>
                </a:solidFill>
                <a:latin typeface="Inter"/>
              </a:rPr>
              <a:t>creator experts   ·   internal proposal for aaron langerman   ·   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