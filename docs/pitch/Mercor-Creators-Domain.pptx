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1828800"/>
            <a:ext cx="731520" cy="50800"/>
          </a:xfrm>
          <a:prstGeom prst="rect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0" b="1">
                <a:solidFill>
                  <a:srgbClr val="0A0A0A"/>
                </a:solidFill>
                <a:latin typeface="Inter"/>
              </a:rPr>
              <a:t>Creator Experts.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B7280"/>
                </a:solidFill>
                <a:latin typeface="Inter"/>
              </a:rPr>
              <a:t>A high-friction labor market. Where AI compounds.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CA3AF"/>
                </a:solidFill>
                <a:latin typeface="Inter"/>
              </a:rPr>
              <a:t>Sourcing. Verification. Evaluation. Outcome prediction.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0A0A0A"/>
                </a:solidFill>
                <a:latin typeface="Inter"/>
              </a:rPr>
              <a:t>For Aaron Langerman, Strategic Ops.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A0A0A"/>
                </a:solidFill>
                <a:latin typeface="Inter"/>
              </a:rPr>
              <a:t>Logan Mann  +  Aarnav Nagabhirava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On Mercor's CUA-envs contract for Anthropic, under Drew Geoly.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THE BROKEN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Five steps. Most of them manual. None of them scale.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9CA3AF"/>
                </a:solidFill>
                <a:latin typeface="Inter"/>
              </a:rPr>
              <a:t>01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Brand brief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marketing manager opens a doc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9819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50987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9CA3AF"/>
                </a:solidFill>
                <a:latin typeface="Inter"/>
              </a:rPr>
              <a:t>02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DM agents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searches IG/TikTok DMs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59558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0726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7857FF"/>
                </a:solidFill>
                <a:latin typeface="Inter"/>
              </a:rPr>
              <a:t>03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Manual scroll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opens 40 profiles, evaluates by eye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297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0465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9CA3AF"/>
                </a:solidFill>
                <a:latin typeface="Inter"/>
              </a:rPr>
              <a:t>04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Email volley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3–5 round-trips per creator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79036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80204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9CA3AF"/>
                </a:solidFill>
                <a:latin typeface="Inter"/>
              </a:rPr>
              <a:t>05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Sign or pass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guess at fit, sign contract, hope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9160"/>
            <a:ext cx="5387187" cy="13258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10328"/>
            <a:ext cx="4838547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7857FF"/>
                </a:solidFill>
                <a:latin typeface="Inter"/>
              </a:rPr>
              <a:t>70%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A0A0A"/>
                </a:solidFill>
                <a:latin typeface="Inter"/>
              </a:rPr>
              <a:t>of brands say finding the right creators is their biggest bottleneck.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Aspire, State of Influencer Marketing 2025.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4709160"/>
            <a:ext cx="5387187" cy="13258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47" y="4910328"/>
            <a:ext cx="4838547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7857FF"/>
                </a:solidFill>
                <a:latin typeface="Inter"/>
              </a:rPr>
              <a:t>39%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A0A0A"/>
                </a:solidFill>
                <a:latin typeface="Inter"/>
              </a:rPr>
              <a:t>of brands still rely on manual research.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IMH/Sprout Q1 2025 Pulse.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WHY 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Three forces just shifted under the creator market.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7857FF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7889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Manual review doesn't scale when content explodes.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YouTube enforcement, Jan 2026: 16 channels removed, 35M subs, 4.7B views erased (Neal Mohan, 2026-01-12).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86200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7857FF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8862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Surface signals are getting noisier.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Only 26% of consumers prefer AI-generated creator content today, down from 60% in 2023 (Billion Dollar Boy Muse Two, 2025-11-20).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79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7857FF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983479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Ad costs are climbing.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Meta Q3 2025: +10% YoY price-per-ad, "increased advertiser demand" (Susan Li, 2025-10-29).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SIGNAL.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Pay for proof, not for follower count.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10908792" cy="7772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7802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68% of brand-creator contracts include performance metrics — up from 42% in 2023.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Lumanu $1B+ payouts dataset,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spc="120">
                <a:solidFill>
                  <a:srgbClr val="9CA3AF"/>
                </a:solidFill>
                <a:latin typeface="Inter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3832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spc="120">
                <a:solidFill>
                  <a:srgbClr val="9CA3AF"/>
                </a:solidFill>
                <a:latin typeface="Inter"/>
              </a:rPr>
              <a:t>INDUSTRY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3383280"/>
            <a:ext cx="3273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spc="120">
                <a:solidFill>
                  <a:srgbClr val="7857FF"/>
                </a:solidFill>
                <a:latin typeface="Inter"/>
              </a:rPr>
              <a:t>MERCOR CREATOR DOMAIN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75888"/>
            <a:ext cx="10908792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0A0A"/>
                </a:solidFill>
                <a:latin typeface="Inter"/>
              </a:rPr>
              <a:t>Ranking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79476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Follower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794760"/>
            <a:ext cx="3273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A0A0A"/>
                </a:solidFill>
                <a:latin typeface="Inter"/>
              </a:rPr>
              <a:t>Outcome history × niche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0A0A"/>
                </a:solidFill>
                <a:latin typeface="Inter"/>
              </a:rPr>
              <a:t>Trust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2976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Self-declared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4297680"/>
            <a:ext cx="3273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A0A0A"/>
                </a:solidFill>
                <a:latin typeface="Inter"/>
              </a:rPr>
              <a:t>Handle + post-fingerprint 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006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0A0A"/>
                </a:solidFill>
                <a:latin typeface="Inter"/>
              </a:rPr>
              <a:t>Pricing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8006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Flat per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800600"/>
            <a:ext cx="3273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A0A0A"/>
                </a:solidFill>
                <a:latin typeface="Inter"/>
              </a:rPr>
              <a:t>Placement on close + perf kicker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57800"/>
            <a:ext cx="11055096" cy="457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30352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857FF"/>
                </a:solidFill>
                <a:latin typeface="Inter"/>
              </a:rPr>
              <a:t>THE MOAT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303520"/>
            <a:ext cx="3273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0A0A"/>
                </a:solidFill>
                <a:latin typeface="Inter"/>
              </a:rPr>
              <a:t>Predictor delta vs follower-baseline +18%, 90d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VERIFICATION.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Four checks to filter the fakes.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EDE9FE"/>
          </a:solidFill>
          <a:ln w="9525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7857FF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31720"/>
            <a:ext cx="6080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Handle ownership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TikTok/IG handle resolves to a live profile with matching display name.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EDE9FE"/>
          </a:solidFill>
          <a:ln w="9525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7857FF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200400"/>
            <a:ext cx="6080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Fingerprint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Recent post timestamps + caption style confirm consistent authorship.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114799"/>
            <a:ext cx="502920" cy="502920"/>
          </a:xfrm>
          <a:prstGeom prst="ellipse">
            <a:avLst/>
          </a:prstGeom>
          <a:solidFill>
            <a:srgbClr val="EDE9FE"/>
          </a:solidFill>
          <a:ln w="9525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7857FF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069079"/>
            <a:ext cx="6080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Niche claim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Self-declared tags vs last 30 posts. Manual review for v1.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571999"/>
            <a:ext cx="6080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7857FF"/>
                </a:solidFill>
                <a:latin typeface="Inter"/>
              </a:rPr>
              <a:t>MANUAL REVIEW FOR V1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983479"/>
            <a:ext cx="502920" cy="502920"/>
          </a:xfrm>
          <a:prstGeom prst="ellipse">
            <a:avLst/>
          </a:prstGeom>
          <a:solidFill>
            <a:srgbClr val="EDE9FE"/>
          </a:solidFill>
          <a:ln w="9525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7857FF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937759"/>
            <a:ext cx="6080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Audience truth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Sampled audience demographics check. Manual review for v1.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440679"/>
            <a:ext cx="6080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7857FF"/>
                </a:solidFill>
                <a:latin typeface="Inter"/>
              </a:rPr>
              <a:t>MANUAL REVIEW FOR V1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2331720"/>
            <a:ext cx="3730752" cy="11887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2478024"/>
            <a:ext cx="33284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37.2%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A0A0A"/>
                </a:solidFill>
                <a:latin typeface="Inter"/>
              </a:rPr>
              <a:t>of influencer followers are fake/inauthentic. ~$4.6B/yr brand waste.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CA3AF"/>
                </a:solidFill>
                <a:latin typeface="Inter"/>
              </a:rPr>
              <a:t>SociaVault 100K-account audit, 2025.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685031"/>
            <a:ext cx="3730752" cy="11887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9288" y="3831335"/>
            <a:ext cx="33284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55%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A0A0A"/>
                </a:solidFill>
                <a:latin typeface="Inter"/>
              </a:rPr>
              <a:t>of Instagram influencers have engaged in fraudulent activity.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CA3AF"/>
                </a:solidFill>
                <a:latin typeface="Inter"/>
              </a:rPr>
              <a:t>HypeAuditor State of Influencer Marketing 2024.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5038344"/>
            <a:ext cx="3730752" cy="11887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9288" y="5184648"/>
            <a:ext cx="33284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$53,088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A0A0A"/>
                </a:solidFill>
                <a:latin typeface="Inter"/>
              </a:rPr>
              <a:t>FTC max civil penalty per violation (Final Rule, eff. 2024-10-21).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CA3AF"/>
                </a:solidFill>
                <a:latin typeface="Inter"/>
              </a:rPr>
              <a:t>Federal Register, 2024.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DAY-1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Three revenue lines. One signed deal.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560320"/>
            <a:ext cx="411480" cy="411480"/>
          </a:xfrm>
          <a:prstGeom prst="ellipse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7315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Placement fee on close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20% × $850 base contract.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Headhunter contingent benchmark.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260604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$170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520440"/>
            <a:ext cx="411480" cy="411480"/>
          </a:xfrm>
          <a:prstGeom prst="ellipse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74720"/>
            <a:ext cx="7315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Performance kicker (per-post)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5% of view-bonus pool.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Lumanu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56616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$0–$50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80560"/>
            <a:ext cx="411480" cy="411480"/>
          </a:xfrm>
          <a:prstGeom prst="ellipse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434840"/>
            <a:ext cx="7315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RL data licensing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Outcome data + rubric scores feed Mercor's existing human-data market for RL environments.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Illustrative — flagged in deck.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45262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Per task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486400"/>
            <a:ext cx="10908792" cy="82296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6509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A0A0A"/>
                </a:solidFill>
                <a:latin typeface="Inter"/>
              </a:rPr>
              <a:t>Logan × Celsius signed: $170 placement + $0–$50 perf kicker + per-task RL revenue when this becomes a Mercor world.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PROVE BY AUGUST.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Four proof points. Falsifiable. By August.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01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Workflow pain real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10 brand interviews. Quantify per-creator review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42316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60604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02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Verification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1,000 creators screened. Catch rate vs ground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8620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03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Quality scoring beats baseline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Mercor model vs follower-count, on 5 brands.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88620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06908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04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Outcome prediction holds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Predicted vs actual on 10 finished campaigns.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66360"/>
            <a:ext cx="10908792" cy="7772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31266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4 of 4 → strategic adjacency. 2 of 4 → kill 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Paid like a headhunter. Placement on signed deals.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NOW →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>
                <a:solidFill>
                  <a:srgbClr val="0A0A0A"/>
                </a:solidFill>
                <a:latin typeface="Inter"/>
              </a:rPr>
              <a:t>The demo's the rest of the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0A0A0A"/>
                </a:solidFill>
                <a:latin typeface="Inter"/>
              </a:rPr>
              <a:t>Logan as a creator — real 22.7K TikTok account, applying inside Mercor's stepper.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A0A0A"/>
                </a:solidFill>
                <a:latin typeface="Inter"/>
              </a:rPr>
              <a:t>Aaron as Mercor admin — RAG cites real posts back by URL, outreach drafts in 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669280"/>
            <a:ext cx="10972800" cy="594360"/>
          </a:xfrm>
          <a:prstGeom prst="roundRect">
            <a:avLst>
              <a:gd name="adj" fmla="val 40000"/>
            </a:avLst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Live: musing-maxwell-84ed29.vercel.app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