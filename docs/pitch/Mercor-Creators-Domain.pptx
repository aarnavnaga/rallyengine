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rc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320040"/>
            <a:ext cx="320040" cy="3200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0080" y="1828800"/>
            <a:ext cx="731520" cy="50800"/>
          </a:xfrm>
          <a:prstGeom prst="rect">
            <a:avLst/>
          </a:prstGeom>
          <a:solidFill>
            <a:srgbClr val="78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0" b="1">
                <a:solidFill>
                  <a:srgbClr val="0A0A0A"/>
                </a:solidFill>
                <a:latin typeface="Inter"/>
              </a:rPr>
              <a:t>Creator Experts.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6B7280"/>
                </a:solidFill>
                <a:latin typeface="Inter"/>
              </a:rPr>
              <a:t>A high-friction labor market. Where AI compounds.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434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CA3AF"/>
                </a:solidFill>
                <a:latin typeface="Inter"/>
              </a:rPr>
              <a:t>Sourcing. Verification. Evaluation. Outcome prediction.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394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0A0A0A"/>
                </a:solidFill>
                <a:latin typeface="Inter"/>
              </a:rPr>
              <a:t>For Aaron Langerman, Strategic Ops.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A0A0A"/>
                </a:solidFill>
                <a:latin typeface="Inter"/>
              </a:rPr>
              <a:t>Logan Mann  +  Aarnav Nagabhirava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On Mercor's CUA-envs contract for Anthropic, under Drew Geoly.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CA3AF"/>
                </a:solidFill>
                <a:latin typeface="Inter"/>
              </a:rPr>
              <a:t>creator experts   ·   internal proposal for aaron langerman   ·   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rc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320040"/>
            <a:ext cx="320040" cy="3200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8686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20">
                <a:solidFill>
                  <a:srgbClr val="7857FF"/>
                </a:solidFill>
                <a:latin typeface="Inter"/>
              </a:rPr>
              <a:t>THE BROKEN WORKFLOW.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0A0A0A"/>
                </a:solidFill>
                <a:latin typeface="Inter"/>
              </a:rPr>
              <a:t>Five steps. Most of them manual. None of them scale.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43200"/>
            <a:ext cx="2072579" cy="169164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944368"/>
            <a:ext cx="1670243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spc="120">
                <a:solidFill>
                  <a:srgbClr val="9CA3AF"/>
                </a:solidFill>
                <a:latin typeface="Inter"/>
              </a:rPr>
              <a:t>01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A0A0A"/>
                </a:solidFill>
                <a:latin typeface="Inter"/>
              </a:rPr>
              <a:t>Brand brief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marketing manager opens a doc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49819" y="2743200"/>
            <a:ext cx="2072579" cy="169164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50987" y="2944368"/>
            <a:ext cx="1670243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spc="120">
                <a:solidFill>
                  <a:srgbClr val="9CA3AF"/>
                </a:solidFill>
                <a:latin typeface="Inter"/>
              </a:rPr>
              <a:t>02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A0A0A"/>
                </a:solidFill>
                <a:latin typeface="Inter"/>
              </a:rPr>
              <a:t>DM agents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searches IG/TikTok DMs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59558" y="2743200"/>
            <a:ext cx="2072579" cy="169164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12700">
            <a:solidFill>
              <a:srgbClr val="785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60726" y="2944368"/>
            <a:ext cx="1670243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spc="120">
                <a:solidFill>
                  <a:srgbClr val="7857FF"/>
                </a:solidFill>
                <a:latin typeface="Inter"/>
              </a:rPr>
              <a:t>03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A0A0A"/>
                </a:solidFill>
                <a:latin typeface="Inter"/>
              </a:rPr>
              <a:t>Manual scroll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opens 40 profiles, evaluates by eye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9297" y="2743200"/>
            <a:ext cx="2072579" cy="169164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70465" y="2944368"/>
            <a:ext cx="1670243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spc="120">
                <a:solidFill>
                  <a:srgbClr val="9CA3AF"/>
                </a:solidFill>
                <a:latin typeface="Inter"/>
              </a:rPr>
              <a:t>04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A0A0A"/>
                </a:solidFill>
                <a:latin typeface="Inter"/>
              </a:rPr>
              <a:t>Email volley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3–5 round-trips per creator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79036" y="2743200"/>
            <a:ext cx="2072579" cy="169164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80204" y="2944368"/>
            <a:ext cx="1670243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spc="120">
                <a:solidFill>
                  <a:srgbClr val="9CA3AF"/>
                </a:solidFill>
                <a:latin typeface="Inter"/>
              </a:rPr>
              <a:t>05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A0A0A"/>
                </a:solidFill>
                <a:latin typeface="Inter"/>
              </a:rPr>
              <a:t>Sign or pass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guess at fit, sign contract, hope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709160"/>
            <a:ext cx="5387187" cy="132588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910328"/>
            <a:ext cx="4838547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7857FF"/>
                </a:solidFill>
                <a:latin typeface="Inter"/>
              </a:rPr>
              <a:t>70%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A0A0A"/>
                </a:solidFill>
                <a:latin typeface="Inter"/>
              </a:rPr>
              <a:t>of brands say finding the right creators is their biggest bottleneck.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CA3AF"/>
                </a:solidFill>
                <a:latin typeface="Inter"/>
              </a:rPr>
              <a:t>Aspire, State of Influencer Marketing 2025.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4427" y="4709160"/>
            <a:ext cx="5387187" cy="132588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747" y="4910328"/>
            <a:ext cx="4838547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7857FF"/>
                </a:solidFill>
                <a:latin typeface="Inter"/>
              </a:rPr>
              <a:t>39%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A0A0A"/>
                </a:solidFill>
                <a:latin typeface="Inter"/>
              </a:rPr>
              <a:t>of brands still rely on manual research.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CA3AF"/>
                </a:solidFill>
                <a:latin typeface="Inter"/>
              </a:rPr>
              <a:t>IMH/Sprout Q1 2025 Pulse.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CA3AF"/>
                </a:solidFill>
                <a:latin typeface="Inter"/>
              </a:rPr>
              <a:t>creator experts   ·   internal proposal for aaron langerman   ·   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rc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320040"/>
            <a:ext cx="320040" cy="3200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8686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20">
                <a:solidFill>
                  <a:srgbClr val="7857FF"/>
                </a:solidFill>
                <a:latin typeface="Inter"/>
              </a:rPr>
              <a:t>WHY NOW.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0A0A0A"/>
                </a:solidFill>
                <a:latin typeface="Inter"/>
              </a:rPr>
              <a:t>Three forces just shifted under the creator market.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88920"/>
            <a:ext cx="777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7857FF"/>
                </a:solidFill>
                <a:latin typeface="Inter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78892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A0A0A"/>
                </a:solidFill>
                <a:latin typeface="Inter"/>
              </a:rPr>
              <a:t>Manual review doesn't scale when content explodes.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Inter"/>
              </a:rPr>
              <a:t>YouTube enforcement, Jan 2026: 16 channels removed, 35M subs, 4.7B views erased (Neal Mohan, 2026-01-12).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86200"/>
            <a:ext cx="777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7857FF"/>
                </a:solidFill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88620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A0A0A"/>
                </a:solidFill>
                <a:latin typeface="Inter"/>
              </a:rPr>
              <a:t>AI slop has flooded the feed.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Inter"/>
              </a:rPr>
              <a:t>Only 26% of consumers prefer AI-generated creator content today, down from 60% in 2023 (Billion Dollar Boy Muse Two, 2025-11-20). Brands need a way to filter slop from real signal.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83479"/>
            <a:ext cx="777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7857FF"/>
                </a:solidFill>
                <a:latin typeface="Inter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983479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A0A0A"/>
                </a:solidFill>
                <a:latin typeface="Inter"/>
              </a:rPr>
              <a:t>Ad costs are climbing.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Inter"/>
              </a:rPr>
              <a:t>Meta Q3 2025: +10% YoY price-per-ad, "increased advertiser demand" (Susan Li, 2025-10-29).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CA3AF"/>
                </a:solidFill>
                <a:latin typeface="Inter"/>
              </a:rPr>
              <a:t>creator experts   ·   internal proposal for aaron langerman   ·   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rc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320040"/>
            <a:ext cx="320040" cy="3200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8686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20">
                <a:solidFill>
                  <a:srgbClr val="7857FF"/>
                </a:solidFill>
                <a:latin typeface="Inter"/>
              </a:rPr>
              <a:t>SIGNAL.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0A0A0A"/>
                </a:solidFill>
                <a:latin typeface="Inter"/>
              </a:rPr>
              <a:t>Pay for proof, not for follower count.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31720"/>
            <a:ext cx="10908792" cy="77724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12700">
            <a:solidFill>
              <a:srgbClr val="785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478024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A0A0A"/>
                </a:solidFill>
                <a:latin typeface="Inter"/>
              </a:rPr>
              <a:t>68% of brand-creator contracts include performance metrics — up from 42% in 2023.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Lumanu $1B+ payouts dataset, 2025.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8328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 spc="120">
                <a:solidFill>
                  <a:srgbClr val="9CA3AF"/>
                </a:solidFill>
                <a:latin typeface="Inter"/>
              </a:rPr>
              <a:t>DIMENSION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3832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 spc="120">
                <a:solidFill>
                  <a:srgbClr val="9CA3AF"/>
                </a:solidFill>
                <a:latin typeface="Inter"/>
              </a:rPr>
              <a:t>INDUSTRY DEFAULT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3383280"/>
            <a:ext cx="3273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 spc="120">
                <a:solidFill>
                  <a:srgbClr val="7857FF"/>
                </a:solidFill>
                <a:latin typeface="Inter"/>
              </a:rPr>
              <a:t>MERCOR CREATOR DOMAIN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675888"/>
            <a:ext cx="10908792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94760"/>
            <a:ext cx="3931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0A0A"/>
                </a:solidFill>
                <a:latin typeface="Inter"/>
              </a:rPr>
              <a:t>Ranking 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79476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Follower count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3794760"/>
            <a:ext cx="327355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0A0A0A"/>
                </a:solidFill>
                <a:latin typeface="Inter"/>
              </a:rPr>
              <a:t>Outcome history × niche fit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97680"/>
            <a:ext cx="3931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0A0A"/>
                </a:solidFill>
                <a:latin typeface="Inter"/>
              </a:rPr>
              <a:t>Trust 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29768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Self-declared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4297680"/>
            <a:ext cx="327355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0A0A0A"/>
                </a:solidFill>
                <a:latin typeface="Inter"/>
              </a:rPr>
              <a:t>Handle + post-fingerprint verified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00600"/>
            <a:ext cx="3931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0A0A"/>
                </a:solidFill>
                <a:latin typeface="Inter"/>
              </a:rPr>
              <a:t>Pricing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80060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Flat per 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4800600"/>
            <a:ext cx="327355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0A0A0A"/>
                </a:solidFill>
                <a:latin typeface="Inter"/>
              </a:rPr>
              <a:t>Placement on close + perf kicker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5257800"/>
            <a:ext cx="11055096" cy="457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303520"/>
            <a:ext cx="3931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857FF"/>
                </a:solidFill>
                <a:latin typeface="Inter"/>
              </a:rPr>
              <a:t>THE MOAT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530352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5303520"/>
            <a:ext cx="327355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0A0A"/>
                </a:solidFill>
                <a:latin typeface="Inter"/>
              </a:rPr>
              <a:t>Predictor delta vs follower-baseline +18%, 90d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CA3AF"/>
                </a:solidFill>
                <a:latin typeface="Inter"/>
              </a:rPr>
              <a:t>creator experts   ·   internal proposal for aaron langerman   ·   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rc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320040"/>
            <a:ext cx="320040" cy="3200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8686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20">
                <a:solidFill>
                  <a:srgbClr val="7857FF"/>
                </a:solidFill>
                <a:latin typeface="Inter"/>
              </a:rPr>
              <a:t>VERIFICATION.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0A0A0A"/>
                </a:solidFill>
                <a:latin typeface="Inter"/>
              </a:rPr>
              <a:t>Four checks to filter the fakes.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377439"/>
            <a:ext cx="502920" cy="502920"/>
          </a:xfrm>
          <a:prstGeom prst="ellipse">
            <a:avLst/>
          </a:prstGeom>
          <a:solidFill>
            <a:srgbClr val="EDE9FE"/>
          </a:solidFill>
          <a:ln w="9525">
            <a:solidFill>
              <a:srgbClr val="785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7857FF"/>
                </a:solidFill>
                <a:latin typeface="Inter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331720"/>
            <a:ext cx="6080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A0A0A"/>
                </a:solidFill>
                <a:latin typeface="Inter"/>
              </a:rPr>
              <a:t>Handle ownership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TikTok/IG handle resolves to a live profile with matching display name.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3246120"/>
            <a:ext cx="502920" cy="502920"/>
          </a:xfrm>
          <a:prstGeom prst="ellipse">
            <a:avLst/>
          </a:prstGeom>
          <a:solidFill>
            <a:srgbClr val="EDE9FE"/>
          </a:solidFill>
          <a:ln w="9525">
            <a:solidFill>
              <a:srgbClr val="785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7857FF"/>
                </a:solidFill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3200400"/>
            <a:ext cx="6080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A0A0A"/>
                </a:solidFill>
                <a:latin typeface="Inter"/>
              </a:rPr>
              <a:t>Fingerprint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Recent post timestamps + caption style confirm consistent authorship.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4114799"/>
            <a:ext cx="502920" cy="502920"/>
          </a:xfrm>
          <a:prstGeom prst="ellipse">
            <a:avLst/>
          </a:prstGeom>
          <a:solidFill>
            <a:srgbClr val="EDE9FE"/>
          </a:solidFill>
          <a:ln w="9525">
            <a:solidFill>
              <a:srgbClr val="785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7857FF"/>
                </a:solidFill>
                <a:latin typeface="Inter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4069079"/>
            <a:ext cx="6080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A0A0A"/>
                </a:solidFill>
                <a:latin typeface="Inter"/>
              </a:rPr>
              <a:t>Niche claim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Self-declared tags vs last 30 posts. Manual review for v1.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4571999"/>
            <a:ext cx="6080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1" spc="140">
                <a:solidFill>
                  <a:srgbClr val="7857FF"/>
                </a:solidFill>
                <a:latin typeface="Inter"/>
              </a:rPr>
              <a:t>MANUAL REVIEW FOR V1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983479"/>
            <a:ext cx="502920" cy="502920"/>
          </a:xfrm>
          <a:prstGeom prst="ellipse">
            <a:avLst/>
          </a:prstGeom>
          <a:solidFill>
            <a:srgbClr val="EDE9FE"/>
          </a:solidFill>
          <a:ln w="9525">
            <a:solidFill>
              <a:srgbClr val="785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7857FF"/>
                </a:solidFill>
                <a:latin typeface="Inter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4937759"/>
            <a:ext cx="6080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A0A0A"/>
                </a:solidFill>
                <a:latin typeface="Inter"/>
              </a:rPr>
              <a:t>Audience truth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Sampled audience demographics check. Manual review for v1.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5440679"/>
            <a:ext cx="6080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1" spc="140">
                <a:solidFill>
                  <a:srgbClr val="7857FF"/>
                </a:solidFill>
                <a:latin typeface="Inter"/>
              </a:rPr>
              <a:t>MANUAL REVIEW FOR V1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2331720"/>
            <a:ext cx="3730752" cy="118872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9288" y="2478024"/>
            <a:ext cx="332841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7857FF"/>
                </a:solidFill>
                <a:latin typeface="Inter"/>
              </a:rPr>
              <a:t>37.2%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A0A0A"/>
                </a:solidFill>
                <a:latin typeface="Inter"/>
              </a:rPr>
              <a:t>of influencer followers are fake/inauthentic. ~$4.6B/yr brand waste.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9CA3AF"/>
                </a:solidFill>
                <a:latin typeface="Inter"/>
              </a:rPr>
              <a:t>SociaVault 100K-account audit, 2025.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3685031"/>
            <a:ext cx="3730752" cy="118872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9288" y="3831335"/>
            <a:ext cx="332841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7857FF"/>
                </a:solidFill>
                <a:latin typeface="Inter"/>
              </a:rPr>
              <a:t>55%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A0A0A"/>
                </a:solidFill>
                <a:latin typeface="Inter"/>
              </a:rPr>
              <a:t>of Instagram influencers have engaged in fraudulent activity.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9CA3AF"/>
                </a:solidFill>
                <a:latin typeface="Inter"/>
              </a:rPr>
              <a:t>HypeAuditor State of Influencer Marketing 2024.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18120" y="5038344"/>
            <a:ext cx="3730752" cy="118872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9288" y="5184648"/>
            <a:ext cx="332841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7857FF"/>
                </a:solidFill>
                <a:latin typeface="Inter"/>
              </a:rPr>
              <a:t>$53,088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A0A0A"/>
                </a:solidFill>
                <a:latin typeface="Inter"/>
              </a:rPr>
              <a:t>FTC max civil penalty per violation (Final Rule, eff. 2024-10-21).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9CA3AF"/>
                </a:solidFill>
                <a:latin typeface="Inter"/>
              </a:rPr>
              <a:t>Federal Register, 2024.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CA3AF"/>
                </a:solidFill>
                <a:latin typeface="Inter"/>
              </a:rPr>
              <a:t>creator experts   ·   internal proposal for aaron langerman   ·   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rc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320040"/>
            <a:ext cx="320040" cy="3200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8686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20">
                <a:solidFill>
                  <a:srgbClr val="7857FF"/>
                </a:solidFill>
                <a:latin typeface="Inter"/>
              </a:rPr>
              <a:t>DAY-1 REVENUE.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0A0A0A"/>
                </a:solidFill>
                <a:latin typeface="Inter"/>
              </a:rPr>
              <a:t>Three revenue lines. One signed deal.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560320"/>
            <a:ext cx="411480" cy="411480"/>
          </a:xfrm>
          <a:prstGeom prst="ellipse">
            <a:avLst/>
          </a:prstGeom>
          <a:solidFill>
            <a:srgbClr val="78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14600"/>
            <a:ext cx="7315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A0A0A"/>
                </a:solidFill>
                <a:latin typeface="Inter"/>
              </a:rPr>
              <a:t>Placement fee on close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20% × $850 base contract.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CA3AF"/>
                </a:solidFill>
                <a:latin typeface="Inter"/>
              </a:rPr>
              <a:t>Headhunter contingent benchmark.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260604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7857FF"/>
                </a:solidFill>
                <a:latin typeface="Inter"/>
              </a:rPr>
              <a:t>$170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520440"/>
            <a:ext cx="411480" cy="411480"/>
          </a:xfrm>
          <a:prstGeom prst="ellipse">
            <a:avLst/>
          </a:prstGeom>
          <a:solidFill>
            <a:srgbClr val="78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74720"/>
            <a:ext cx="7315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A0A0A"/>
                </a:solidFill>
                <a:latin typeface="Inter"/>
              </a:rPr>
              <a:t>Performance kicker (per-post)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5% of view-bonus pool.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CA3AF"/>
                </a:solidFill>
                <a:latin typeface="Inter"/>
              </a:rPr>
              <a:t>Lumanu pattern.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56616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7857FF"/>
                </a:solidFill>
                <a:latin typeface="Inter"/>
              </a:rPr>
              <a:t>$0–$50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480560"/>
            <a:ext cx="411480" cy="411480"/>
          </a:xfrm>
          <a:prstGeom prst="ellipse">
            <a:avLst/>
          </a:prstGeom>
          <a:solidFill>
            <a:srgbClr val="78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434840"/>
            <a:ext cx="7315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A0A0A"/>
                </a:solidFill>
                <a:latin typeface="Inter"/>
              </a:rPr>
              <a:t>RL data licensing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Outcome data + rubric scores feed Mercor's existing human-data market for RL environments.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CA3AF"/>
                </a:solidFill>
                <a:latin typeface="Inter"/>
              </a:rPr>
              <a:t>Illustrative — flagged in deck.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452628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7857FF"/>
                </a:solidFill>
                <a:latin typeface="Inter"/>
              </a:rPr>
              <a:t>Per task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486400"/>
            <a:ext cx="10908792" cy="82296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12700">
            <a:solidFill>
              <a:srgbClr val="785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65099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A0A0A"/>
                </a:solidFill>
                <a:latin typeface="Inter"/>
              </a:rPr>
              <a:t>Logan × Celsius signed: $170 placement + $0–$50 perf kicker + per-task RL revenue when this becomes a Mercor world.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CA3AF"/>
                </a:solidFill>
                <a:latin typeface="Inter"/>
              </a:rPr>
              <a:t>creator experts   ·   internal proposal for aaron langerman   ·   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rc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320040"/>
            <a:ext cx="320040" cy="3200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8686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20">
                <a:solidFill>
                  <a:srgbClr val="7857FF"/>
                </a:solidFill>
                <a:latin typeface="Inter"/>
              </a:rPr>
              <a:t>PROVE BY AUGUST.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0A0A0A"/>
                </a:solidFill>
                <a:latin typeface="Inter"/>
              </a:rPr>
              <a:t>Four proof points. Falsifiable. By August.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23160"/>
            <a:ext cx="5440680" cy="123444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06040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20">
                <a:solidFill>
                  <a:srgbClr val="7857FF"/>
                </a:solidFill>
                <a:latin typeface="Inter"/>
              </a:rPr>
              <a:t>01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A0A0A"/>
                </a:solidFill>
                <a:latin typeface="Inter"/>
              </a:rPr>
              <a:t>Workflow pain real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10 brand interviews. Quantify per-creator review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423160"/>
            <a:ext cx="5440680" cy="123444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606040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20">
                <a:solidFill>
                  <a:srgbClr val="7857FF"/>
                </a:solidFill>
                <a:latin typeface="Inter"/>
              </a:rPr>
              <a:t>02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A0A0A"/>
                </a:solidFill>
                <a:latin typeface="Inter"/>
              </a:rPr>
              <a:t>Verification works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1,000 creators screened. Catch rate vs ground truth.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886200"/>
            <a:ext cx="5440680" cy="123444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69080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20">
                <a:solidFill>
                  <a:srgbClr val="7857FF"/>
                </a:solidFill>
                <a:latin typeface="Inter"/>
              </a:rPr>
              <a:t>03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A0A0A"/>
                </a:solidFill>
                <a:latin typeface="Inter"/>
              </a:rPr>
              <a:t>Quality scoring beats baseline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Mercor model vs follower-count, on 5 brands.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886200"/>
            <a:ext cx="5440680" cy="123444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4069080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20">
                <a:solidFill>
                  <a:srgbClr val="7857FF"/>
                </a:solidFill>
                <a:latin typeface="Inter"/>
              </a:rPr>
              <a:t>04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A0A0A"/>
                </a:solidFill>
                <a:latin typeface="Inter"/>
              </a:rPr>
              <a:t>Outcome prediction holds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Predicted vs actual on 10 finished campaigns.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66360"/>
            <a:ext cx="10908792" cy="77724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12700">
            <a:solidFill>
              <a:srgbClr val="785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312664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0A0A0A"/>
                </a:solidFill>
                <a:latin typeface="Inter"/>
              </a:rPr>
              <a:t>4 of 4 → strategic adjacency. 2 of 4 → kill it.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Paid like a headhunter. Placement on signed deals.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CA3AF"/>
                </a:solidFill>
                <a:latin typeface="Inter"/>
              </a:rPr>
              <a:t>creator experts   ·   internal proposal for aaron langerman   ·   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rc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320040"/>
            <a:ext cx="320040" cy="3200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8686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20">
                <a:solidFill>
                  <a:srgbClr val="7857FF"/>
                </a:solidFill>
                <a:latin typeface="Inter"/>
              </a:rPr>
              <a:t>NOW →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728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200" b="1">
                <a:solidFill>
                  <a:srgbClr val="0A0A0A"/>
                </a:solidFill>
                <a:latin typeface="Inter"/>
              </a:rPr>
              <a:t>The demo's the rest of the pitch.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2336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0A0A0A"/>
                </a:solidFill>
                <a:latin typeface="Inter"/>
              </a:rPr>
              <a:t>Logan as a creator — real 22.7K TikTok account, applying inside Mercor's stepper.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A0A0A"/>
                </a:solidFill>
                <a:latin typeface="Inter"/>
              </a:rPr>
              <a:t>Aaron as Mercor admin — RAG cites real posts back by URL, outreach drafts in 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669280"/>
            <a:ext cx="10972800" cy="594360"/>
          </a:xfrm>
          <a:prstGeom prst="roundRect">
            <a:avLst>
              <a:gd name="adj" fmla="val 40000"/>
            </a:avLst>
          </a:prstGeom>
          <a:solidFill>
            <a:srgbClr val="78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Inter"/>
              </a:rPr>
              <a:t>Live: musing-maxwell-84ed29.vercel.app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CA3AF"/>
                </a:solidFill>
                <a:latin typeface="Inter"/>
              </a:rPr>
              <a:t>creator experts   ·   internal proposal for aaron langerman   ·   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