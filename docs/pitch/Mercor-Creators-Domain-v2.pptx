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62" r:id="rId17"/>
    <p:sldId id="259" r:id="rId9"/>
    <p:sldId id="260" r:id="rId10"/>
    <p:sldId id="261" r:id="rId11"/>
  </p:sldIdLst>
  <p:sldSz cy="6858000" cx="12191675"/>
  <p:notesSz cx="6858000" cy="9144000"/>
  <p:embeddedFontLst>
    <p:embeddedFont>
      <p:font typeface="Inter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6" roundtripDataSignature="AMtx7mh8Ir+W3Moq75B34DLp8FzNU9T4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Inter-regular.fntdata"/><Relationship Id="rId13" Type="http://schemas.openxmlformats.org/officeDocument/2006/relationships/font" Target="fonts/Inter-bold.fntdata"/><Relationship Id="rId14" Type="http://schemas.openxmlformats.org/officeDocument/2006/relationships/font" Target="fonts/Inter-italic.fntdata"/><Relationship Id="rId15" Type="http://schemas.openxmlformats.org/officeDocument/2006/relationships/font" Target="fonts/Inter-boldItalic.fntdata"/><Relationship Id="rId16" Type="http://customschemas.google.com/relationships/presentationmetadata" Target="metadata"/><Relationship Id="rId17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hyperlink" Target="http://musing-maxwell-84ed29.vercel.app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ercor-logo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1575" y="3200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640080" y="1828800"/>
            <a:ext cx="731520" cy="50800"/>
          </a:xfrm>
          <a:prstGeom prst="rect">
            <a:avLst/>
          </a:prstGeom>
          <a:solidFill>
            <a:srgbClr val="7857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640080" y="2103120"/>
            <a:ext cx="10972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00" u="none" cap="none" strike="noStrike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Creator Experts.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640080" y="36576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A new Expert Domain for Mercor.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640080" y="420624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Build over the summer. Ship at the start of Q4.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640080" y="5394960"/>
            <a:ext cx="109728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Logan Mann  +  Aarnav Nagabhirava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creator experts   ·   internal proposal for aaron langerman   ·   1 / 7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ercor-logo.png" id="95" name="Google Shape;9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1575" y="3200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"/>
          <p:cNvSpPr txBox="1"/>
          <p:nvPr/>
        </p:nvSpPr>
        <p:spPr>
          <a:xfrm>
            <a:off x="640080" y="8686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7857FF"/>
                </a:solidFill>
                <a:latin typeface="Inter"/>
                <a:ea typeface="Inter"/>
                <a:cs typeface="Inter"/>
                <a:sym typeface="Inter"/>
              </a:rPr>
              <a:t>THREE NUMBERS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640080" y="1417320"/>
            <a:ext cx="10972800" cy="10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The </a:t>
            </a:r>
            <a:r>
              <a:rPr b="1" lang="en-US" sz="3400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UGC market needs efficient, effective matching.</a:t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640080" y="3108960"/>
            <a:ext cx="3657600" cy="2743200"/>
          </a:xfrm>
          <a:prstGeom prst="roundRect">
            <a:avLst>
              <a:gd fmla="val 5000" name="adj"/>
            </a:avLst>
          </a:prstGeom>
          <a:solidFill>
            <a:srgbClr val="FAFAFA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914400" y="3474720"/>
            <a:ext cx="31089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$480B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i="0" lang="en-US" sz="1300" u="none" cap="none" strike="noStrike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Creator economy by 2027.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Goldman Sachs.</a:t>
            </a:r>
            <a:endParaRPr/>
          </a:p>
        </p:txBody>
      </p:sp>
      <p:sp>
        <p:nvSpPr>
          <p:cNvPr id="100" name="Google Shape;100;p2"/>
          <p:cNvSpPr/>
          <p:nvPr/>
        </p:nvSpPr>
        <p:spPr>
          <a:xfrm>
            <a:off x="4434840" y="3108960"/>
            <a:ext cx="3657600" cy="2743200"/>
          </a:xfrm>
          <a:prstGeom prst="roundRect">
            <a:avLst>
              <a:gd fmla="val 5000" name="adj"/>
            </a:avLst>
          </a:prstGeom>
          <a:solidFill>
            <a:srgbClr val="EDE9FE"/>
          </a:solidFill>
          <a:ln cap="flat" cmpd="sng" w="12700">
            <a:solidFill>
              <a:srgbClr val="7857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4709160" y="3474720"/>
            <a:ext cx="31089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7857FF"/>
                </a:solidFill>
                <a:latin typeface="Inter"/>
                <a:ea typeface="Inter"/>
                <a:cs typeface="Inter"/>
                <a:sym typeface="Inter"/>
              </a:rPr>
              <a:t>20-30 </a:t>
            </a:r>
            <a:r>
              <a:rPr b="1" lang="en-US" sz="3000">
                <a:solidFill>
                  <a:srgbClr val="7857FF"/>
                </a:solidFill>
                <a:latin typeface="Inter"/>
                <a:ea typeface="Inter"/>
                <a:cs typeface="Inter"/>
                <a:sym typeface="Inter"/>
              </a:rPr>
              <a:t>hours.</a:t>
            </a:r>
            <a:endParaRPr sz="1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How long it takes for companies to find creators per campaign.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HypeAuditor, 2026.</a:t>
            </a:r>
            <a:endParaRPr>
              <a:solidFill>
                <a:srgbClr val="888888"/>
              </a:solidFill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8229600" y="3108960"/>
            <a:ext cx="3657600" cy="2743200"/>
          </a:xfrm>
          <a:prstGeom prst="roundRect">
            <a:avLst>
              <a:gd fmla="val 5000" name="adj"/>
            </a:avLst>
          </a:prstGeom>
          <a:solidFill>
            <a:srgbClr val="FAFAFA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8503920" y="3474720"/>
            <a:ext cx="31089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63</a:t>
            </a:r>
            <a:r>
              <a:rPr b="1" i="0" lang="en-US" sz="4400" u="none" cap="none" strike="noStrike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%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of companies prefer sustained, quality creator collaboration over one-time engagements / mass-produced content.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The Net Influencer, 2026. 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Three external signals. All pointing the same way.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creator experts   ·   internal proposal for aaron langerman   ·   2 / 7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ercor-logo.png"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1575" y="3200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 txBox="1"/>
          <p:nvPr/>
        </p:nvSpPr>
        <p:spPr>
          <a:xfrm>
            <a:off x="640080" y="8686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7857FF"/>
                </a:solidFill>
                <a:latin typeface="Inter"/>
                <a:ea typeface="Inter"/>
                <a:cs typeface="Inter"/>
                <a:sym typeface="Inter"/>
              </a:rPr>
              <a:t>WHY THIS. WHY NOW.</a:t>
            </a:r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640080" y="141732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Three things changed in the last six months.</a:t>
            </a:r>
            <a:endParaRPr/>
          </a:p>
        </p:txBody>
      </p:sp>
      <p:sp>
        <p:nvSpPr>
          <p:cNvPr id="113" name="Google Shape;113;p3"/>
          <p:cNvSpPr txBox="1"/>
          <p:nvPr/>
        </p:nvSpPr>
        <p:spPr>
          <a:xfrm>
            <a:off x="640080" y="3108960"/>
            <a:ext cx="731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7857FF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/>
          </a:p>
        </p:txBody>
      </p:sp>
      <p:sp>
        <p:nvSpPr>
          <p:cNvPr id="114" name="Google Shape;114;p3"/>
          <p:cNvSpPr txBox="1"/>
          <p:nvPr/>
        </p:nvSpPr>
        <p:spPr>
          <a:xfrm>
            <a:off x="1554480" y="310896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Handshake AI is going for the college funnel.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18M students priced as cheap RLHF labor.</a:t>
            </a:r>
            <a:endParaRPr/>
          </a:p>
        </p:txBody>
      </p:sp>
      <p:sp>
        <p:nvSpPr>
          <p:cNvPr id="115" name="Google Shape;115;p3"/>
          <p:cNvSpPr txBox="1"/>
          <p:nvPr/>
        </p:nvSpPr>
        <p:spPr>
          <a:xfrm>
            <a:off x="640080" y="4069080"/>
            <a:ext cx="731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7857FF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1554480" y="4069080"/>
            <a:ext cx="100584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A growing need for creative data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Need metrics for what successful UGC campaigns look like to train models for creative accuracy.</a:t>
            </a:r>
            <a:endParaRPr/>
          </a:p>
        </p:txBody>
      </p:sp>
      <p:sp>
        <p:nvSpPr>
          <p:cNvPr id="117" name="Google Shape;117;p3"/>
          <p:cNvSpPr txBox="1"/>
          <p:nvPr/>
        </p:nvSpPr>
        <p:spPr>
          <a:xfrm>
            <a:off x="640080" y="5029200"/>
            <a:ext cx="731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7857FF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/>
          </a:p>
        </p:txBody>
      </p:sp>
      <p:sp>
        <p:nvSpPr>
          <p:cNvPr id="118" name="Google Shape;118;p3"/>
          <p:cNvSpPr txBox="1"/>
          <p:nvPr/>
        </p:nvSpPr>
        <p:spPr>
          <a:xfrm>
            <a:off x="1554480" y="5029200"/>
            <a:ext cx="100584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M</a:t>
            </a:r>
            <a:r>
              <a:rPr b="1" lang="en-US" sz="1800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eta CPMs (cost per thousand impressions) jumped 20%.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Brands are paying more than ever for advertisement this month and this coming year.</a:t>
            </a:r>
            <a:endParaRPr/>
          </a:p>
        </p:txBody>
      </p:sp>
      <p:sp>
        <p:nvSpPr>
          <p:cNvPr id="119" name="Google Shape;119;p3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creator experts   ·   internal proposal for aaron langerman   ·   3 / 7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ercor-logo.png" id="124" name="Google Shape;12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1575" y="3200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4"/>
          <p:cNvSpPr txBox="1"/>
          <p:nvPr/>
        </p:nvSpPr>
        <p:spPr>
          <a:xfrm>
            <a:off x="640080" y="868680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7857FF"/>
                </a:solidFill>
                <a:latin typeface="Inter"/>
                <a:ea typeface="Inter"/>
                <a:cs typeface="Inter"/>
                <a:sym typeface="Inter"/>
              </a:rPr>
              <a:t>TRACTION</a:t>
            </a:r>
            <a:endParaRPr/>
          </a:p>
        </p:txBody>
      </p:sp>
      <p:sp>
        <p:nvSpPr>
          <p:cNvPr id="126" name="Google Shape;126;p4"/>
          <p:cNvSpPr txBox="1"/>
          <p:nvPr/>
        </p:nvSpPr>
        <p:spPr>
          <a:xfrm>
            <a:off x="640080" y="1417320"/>
            <a:ext cx="10972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3 signed LOIs. And we’re just getting started.</a:t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640080" y="2697480"/>
            <a:ext cx="5394900" cy="2286000"/>
          </a:xfrm>
          <a:prstGeom prst="roundRect">
            <a:avLst>
              <a:gd fmla="val 5000" name="adj"/>
            </a:avLst>
          </a:prstGeom>
          <a:solidFill>
            <a:srgbClr val="FAFAFA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868680" y="2971800"/>
            <a:ext cx="4937700" cy="13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VIEWS DRIVEN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5600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~500K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Across 10+ campaigns. Real eyeballs.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6263640" y="2697480"/>
            <a:ext cx="5394960" cy="2286000"/>
          </a:xfrm>
          <a:prstGeom prst="roundRect">
            <a:avLst>
              <a:gd fmla="val 5000" name="adj"/>
            </a:avLst>
          </a:prstGeom>
          <a:solidFill>
            <a:srgbClr val="EDE9FE"/>
          </a:solidFill>
          <a:ln cap="flat" cmpd="sng" w="12700">
            <a:solidFill>
              <a:srgbClr val="7857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6492240" y="2971800"/>
            <a:ext cx="4937700" cy="13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7857FF"/>
                </a:solidFill>
                <a:latin typeface="Inter"/>
                <a:ea typeface="Inter"/>
                <a:cs typeface="Inter"/>
                <a:sym typeface="Inter"/>
              </a:rPr>
              <a:t>REVENUE GENERATED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5600">
                <a:solidFill>
                  <a:srgbClr val="7857FF"/>
                </a:solidFill>
                <a:latin typeface="Inter"/>
                <a:ea typeface="Inter"/>
                <a:cs typeface="Inter"/>
                <a:sym typeface="Inter"/>
              </a:rPr>
              <a:t>~$25K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For the brands we ran. Pen on paper.</a:t>
            </a:r>
            <a:endParaRPr/>
          </a:p>
        </p:txBody>
      </p:sp>
      <p:sp>
        <p:nvSpPr>
          <p:cNvPr id="131" name="Google Shape;131;p4"/>
          <p:cNvSpPr txBox="1"/>
          <p:nvPr/>
        </p:nvSpPr>
        <p:spPr>
          <a:xfrm>
            <a:off x="640080" y="5486400"/>
            <a:ext cx="10972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UCSB, Stanford, Berkeley, UCLA + more. Mercor can run it bigger.</a:t>
            </a:r>
            <a:endParaRPr/>
          </a:p>
        </p:txBody>
      </p:sp>
      <p:sp>
        <p:nvSpPr>
          <p:cNvPr id="132" name="Google Shape;132;p4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creator experts   ·   internal proposal for aaron langerman   ·   5 / 7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ercor-logo.png" id="137" name="Google Shape;13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1575" y="3200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5"/>
          <p:cNvSpPr txBox="1"/>
          <p:nvPr/>
        </p:nvSpPr>
        <p:spPr>
          <a:xfrm>
            <a:off x="640080" y="8686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7857FF"/>
                </a:solidFill>
                <a:latin typeface="Inter"/>
                <a:ea typeface="Inter"/>
                <a:cs typeface="Inter"/>
                <a:sym typeface="Inter"/>
              </a:rPr>
              <a:t>THE PLAN</a:t>
            </a:r>
            <a:endParaRPr/>
          </a:p>
        </p:txBody>
      </p:sp>
      <p:sp>
        <p:nvSpPr>
          <p:cNvPr id="139" name="Google Shape;139;p5"/>
          <p:cNvSpPr txBox="1"/>
          <p:nvPr/>
        </p:nvSpPr>
        <p:spPr>
          <a:xfrm>
            <a:off x="640080" y="141732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Build it over the summer. Ship it at Q4.</a:t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640080" y="2606040"/>
            <a:ext cx="5577840" cy="1325880"/>
          </a:xfrm>
          <a:prstGeom prst="roundRect">
            <a:avLst>
              <a:gd fmla="val 6000" name="adj"/>
            </a:avLst>
          </a:prstGeom>
          <a:solidFill>
            <a:srgbClr val="FAFAFA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 txBox="1"/>
          <p:nvPr/>
        </p:nvSpPr>
        <p:spPr>
          <a:xfrm>
            <a:off x="932688" y="2834640"/>
            <a:ext cx="4992600" cy="8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7857FF"/>
                </a:solidFill>
                <a:latin typeface="Inter"/>
                <a:ea typeface="Inter"/>
                <a:cs typeface="Inter"/>
                <a:sym typeface="Inter"/>
              </a:rPr>
              <a:t>SUMMER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Internship build + PMF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Logan + Aarnav, </a:t>
            </a:r>
            <a:r>
              <a:rPr lang="en-US" sz="11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the first Creator Domain Interns</a:t>
            </a:r>
            <a:r>
              <a:rPr b="0" i="0" lang="en-US" sz="11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. Real campaigns running by Aug.</a:t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6492240" y="2606040"/>
            <a:ext cx="5577840" cy="1325880"/>
          </a:xfrm>
          <a:prstGeom prst="roundRect">
            <a:avLst>
              <a:gd fmla="val 6000" name="adj"/>
            </a:avLst>
          </a:prstGeom>
          <a:solidFill>
            <a:srgbClr val="EDE9FE"/>
          </a:solidFill>
          <a:ln cap="flat" cmpd="sng" w="12700">
            <a:solidFill>
              <a:srgbClr val="7857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 txBox="1"/>
          <p:nvPr/>
        </p:nvSpPr>
        <p:spPr>
          <a:xfrm>
            <a:off x="6784848" y="2834640"/>
            <a:ext cx="4992624" cy="960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7857FF"/>
                </a:solidFill>
                <a:latin typeface="Inter"/>
                <a:ea typeface="Inter"/>
                <a:cs typeface="Inter"/>
                <a:sym typeface="Inter"/>
              </a:rPr>
              <a:t>Q4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Deploy with Eng + Growth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Hand-off to Mercor's eng and growth teams. Domain row goes live.</a:t>
            </a:r>
            <a:endParaRPr/>
          </a:p>
        </p:txBody>
      </p:sp>
      <p:sp>
        <p:nvSpPr>
          <p:cNvPr id="144" name="Google Shape;144;p5"/>
          <p:cNvSpPr txBox="1"/>
          <p:nvPr/>
        </p:nvSpPr>
        <p:spPr>
          <a:xfrm>
            <a:off x="640080" y="42976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7857FF"/>
                </a:solidFill>
                <a:latin typeface="Inter"/>
                <a:ea typeface="Inter"/>
                <a:cs typeface="Inter"/>
                <a:sym typeface="Inter"/>
              </a:rPr>
              <a:t>WHAT WE NEED FROM YOU</a:t>
            </a:r>
            <a:endParaRPr/>
          </a:p>
        </p:txBody>
      </p:sp>
      <p:sp>
        <p:nvSpPr>
          <p:cNvPr id="145" name="Google Shape;145;p5"/>
          <p:cNvSpPr txBox="1"/>
          <p:nvPr/>
        </p:nvSpPr>
        <p:spPr>
          <a:xfrm>
            <a:off x="640080" y="484632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7857FF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/>
          </a:p>
        </p:txBody>
      </p:sp>
      <p:sp>
        <p:nvSpPr>
          <p:cNvPr id="146" name="Google Shape;146;p5"/>
          <p:cNvSpPr txBox="1"/>
          <p:nvPr/>
        </p:nvSpPr>
        <p:spPr>
          <a:xfrm>
            <a:off x="1234440" y="4864607"/>
            <a:ext cx="10332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Can Creator Experts ship as its own Domain row, with you owning expert onboarding?</a:t>
            </a:r>
            <a:endParaRPr/>
          </a:p>
        </p:txBody>
      </p:sp>
      <p:sp>
        <p:nvSpPr>
          <p:cNvPr id="147" name="Google Shape;147;p5"/>
          <p:cNvSpPr txBox="1"/>
          <p:nvPr/>
        </p:nvSpPr>
        <p:spPr>
          <a:xfrm>
            <a:off x="640080" y="534924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7857FF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/>
          </a:p>
        </p:txBody>
      </p:sp>
      <p:sp>
        <p:nvSpPr>
          <p:cNvPr id="148" name="Google Shape;148;p5"/>
          <p:cNvSpPr txBox="1"/>
          <p:nvPr/>
        </p:nvSpPr>
        <p:spPr>
          <a:xfrm>
            <a:off x="1234440" y="5367527"/>
            <a:ext cx="10332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Should we grade creator deliverables on Mercor’s existing quality rubric?</a:t>
            </a:r>
            <a:endParaRPr/>
          </a:p>
        </p:txBody>
      </p:sp>
      <p:sp>
        <p:nvSpPr>
          <p:cNvPr id="149" name="Google Shape;149;p5"/>
          <p:cNvSpPr txBox="1"/>
          <p:nvPr/>
        </p:nvSpPr>
        <p:spPr>
          <a:xfrm>
            <a:off x="640080" y="585216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7857FF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/>
          </a:p>
        </p:txBody>
      </p:sp>
      <p:sp>
        <p:nvSpPr>
          <p:cNvPr id="150" name="Google Shape;150;p5"/>
          <p:cNvSpPr txBox="1"/>
          <p:nvPr/>
        </p:nvSpPr>
        <p:spPr>
          <a:xfrm>
            <a:off x="1234440" y="5870448"/>
            <a:ext cx="10332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What proof by August greenlights the Q4 hand-off to Eng + Growth?</a:t>
            </a:r>
            <a:endParaRPr/>
          </a:p>
        </p:txBody>
      </p:sp>
      <p:sp>
        <p:nvSpPr>
          <p:cNvPr id="151" name="Google Shape;151;p5"/>
          <p:cNvSpPr txBox="1"/>
          <p:nvPr/>
        </p:nvSpPr>
        <p:spPr>
          <a:xfrm>
            <a:off x="640080" y="6446520"/>
            <a:ext cx="10972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creator experts  ·  internal proposal for aaron langerman  ·  6 / 7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ercor-logo.png" id="156" name="Google Shape;15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1575" y="3200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6"/>
          <p:cNvSpPr txBox="1"/>
          <p:nvPr/>
        </p:nvSpPr>
        <p:spPr>
          <a:xfrm>
            <a:off x="640080" y="8686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7857FF"/>
                </a:solidFill>
                <a:latin typeface="Inter"/>
                <a:ea typeface="Inter"/>
                <a:cs typeface="Inter"/>
                <a:sym typeface="Inter"/>
              </a:rPr>
              <a:t>NOW → LIVE DEMO</a:t>
            </a:r>
            <a:endParaRPr/>
          </a:p>
        </p:txBody>
      </p:sp>
      <p:sp>
        <p:nvSpPr>
          <p:cNvPr id="158" name="Google Shape;158;p6"/>
          <p:cNvSpPr txBox="1"/>
          <p:nvPr/>
        </p:nvSpPr>
        <p:spPr>
          <a:xfrm>
            <a:off x="640080" y="1417320"/>
            <a:ext cx="109728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The demo's the rest of the pitch.</a:t>
            </a:r>
            <a:endParaRPr/>
          </a:p>
        </p:txBody>
      </p:sp>
      <p:sp>
        <p:nvSpPr>
          <p:cNvPr id="159" name="Google Shape;159;p6"/>
          <p:cNvSpPr txBox="1"/>
          <p:nvPr/>
        </p:nvSpPr>
        <p:spPr>
          <a:xfrm>
            <a:off x="640080" y="4023360"/>
            <a:ext cx="10972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Logan as a creator — real 22.7K TikTok account, applying inside Mercor's stepper.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Aaron as Mercor admin — RAG cites real posts back by URL, outreach drafts in line.</a:t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640080" y="5669280"/>
            <a:ext cx="10972800" cy="594360"/>
          </a:xfrm>
          <a:prstGeom prst="roundRect">
            <a:avLst>
              <a:gd fmla="val 40000" name="adj"/>
            </a:avLst>
          </a:prstGeom>
          <a:solidFill>
            <a:srgbClr val="7857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sng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Live Demo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1" name="Google Shape;161;p6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creator experts   ·   internal proposal for aaron langerman   ·   7 / 7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descr="mercor-logo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1575" y="3200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TextBox 84"/>
          <p:cNvSpPr txBox="1"/>
          <p:nvPr/>
        </p:nvSpPr>
        <p:spPr>
          <a:xfrm>
            <a:off x="640080" y="868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857FF"/>
                </a:solidFill>
                <a:latin typeface="Inter"/>
              </a:rPr>
              <a:t>PAY FOR PROOF.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40080" y="14173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0A0A"/>
                </a:solidFill>
                <a:latin typeface="Inter"/>
              </a:rPr>
              <a:t>Pay creators for what their content drove.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0080" y="1947320"/>
            <a:ext cx="109728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7857FF"/>
                </a:solidFill>
                <a:latin typeface="Inter"/>
              </a:rPr>
              <a:t>Not what they shipped.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40080" y="2880360"/>
            <a:ext cx="4900000" cy="2200000"/>
          </a:xfrm>
          <a:prstGeom prst="roundRect">
            <a:avLst>
              <a:gd name="adj" fmla="val 4000"/>
            </a:avLst>
          </a:prstGeom>
          <a:solidFill>
            <a:srgbClr val="FAFA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5820080" y="2880360"/>
            <a:ext cx="5731515" cy="2200000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 w="12700">
            <a:solidFill>
              <a:srgbClr val="785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90080" y="3080360"/>
            <a:ext cx="4400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Inter"/>
              </a:rPr>
              <a:t>INDUSTRY DEFAULT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70080" y="3080360"/>
            <a:ext cx="5231515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857FF"/>
                </a:solidFill>
                <a:latin typeface="Inter"/>
              </a:rPr>
              <a:t>MERCOR CREATOR DOMAIN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0080" y="3480360"/>
            <a:ext cx="1320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9CA3AF"/>
                </a:solidFill>
                <a:latin typeface="Inter"/>
              </a:rPr>
              <a:t>THE BENCH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270080" y="3460360"/>
            <a:ext cx="3200000" cy="4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A0A0A"/>
                </a:solidFill>
                <a:latin typeface="Inter"/>
              </a:rPr>
              <a:t>Posts shipped, video length, follower count.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070080" y="3480360"/>
            <a:ext cx="1320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857FF"/>
                </a:solidFill>
                <a:latin typeface="Inter"/>
              </a:rPr>
              <a:t>THE BENCH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450080" y="3460360"/>
            <a:ext cx="4031515" cy="4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A0A0A"/>
                </a:solidFill>
                <a:latin typeface="Inter"/>
              </a:rPr>
              <a:t>Web-scraped performance signals, refreshed per cycle.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720080" y="3950360"/>
            <a:ext cx="474000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5900080" y="3950360"/>
            <a:ext cx="5571515" cy="0"/>
          </a:xfrm>
          <a:prstGeom prst="line">
            <a:avLst/>
          </a:prstGeom>
          <a:ln w="9525">
            <a:solidFill>
              <a:srgbClr val="785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890080" y="3980360"/>
            <a:ext cx="1320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9CA3AF"/>
                </a:solidFill>
                <a:latin typeface="Inter"/>
              </a:rPr>
              <a:t>THE METRIC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270080" y="3960360"/>
            <a:ext cx="3200000" cy="4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A0A0A"/>
                </a:solidFill>
                <a:latin typeface="Inter"/>
              </a:rPr>
              <a:t>“Did you post on time?”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070080" y="3980360"/>
            <a:ext cx="1320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857FF"/>
                </a:solidFill>
                <a:latin typeface="Inter"/>
              </a:rPr>
              <a:t>THE METRIC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450080" y="3960360"/>
            <a:ext cx="4031515" cy="4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A0A0A"/>
                </a:solidFill>
                <a:latin typeface="Inter"/>
              </a:rPr>
              <a:t>Engagement velocity, completion rate, comment quality, niche-fit.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720080" y="4450360"/>
            <a:ext cx="474000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5900080" y="4450360"/>
            <a:ext cx="5571515" cy="0"/>
          </a:xfrm>
          <a:prstGeom prst="line">
            <a:avLst/>
          </a:prstGeom>
          <a:ln w="9525">
            <a:solidFill>
              <a:srgbClr val="785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890080" y="4480360"/>
            <a:ext cx="1320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9CA3AF"/>
                </a:solidFill>
                <a:latin typeface="Inter"/>
              </a:rPr>
              <a:t>THE PAYOUT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270080" y="4460360"/>
            <a:ext cx="3200000" cy="4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A0A0A"/>
                </a:solidFill>
                <a:latin typeface="Inter"/>
              </a:rPr>
              <a:t>Flat rate × volume. Effort, not outcome.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070080" y="4480360"/>
            <a:ext cx="1320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857FF"/>
                </a:solidFill>
                <a:latin typeface="Inter"/>
              </a:rPr>
              <a:t>THE PAYOUT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450080" y="4460360"/>
            <a:ext cx="4031515" cy="4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A0A0A"/>
                </a:solidFill>
                <a:latin typeface="Inter"/>
              </a:rPr>
              <a:t>Performance multiplier × audience-fit. Outcome, not effort.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640080" y="5310360"/>
            <a:ext cx="3503838" cy="9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80080" y="5420360"/>
            <a:ext cx="3023838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7857FF"/>
                </a:solidFill>
                <a:latin typeface="Inter"/>
              </a:rPr>
              <a:t>78%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80080" y="5780360"/>
            <a:ext cx="3023838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Inter"/>
              </a:rPr>
              <a:t>Brands now prefer performance pay (vs. 52% in 2023).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80080" y="5970360"/>
            <a:ext cx="3023838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9CA3AF"/>
                </a:solidFill>
                <a:latin typeface="Inter"/>
              </a:rPr>
              <a:t>Influencer Marketing Hub, 2026.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343918" y="5310360"/>
            <a:ext cx="3503838" cy="9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583918" y="5420360"/>
            <a:ext cx="3023838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7857FF"/>
                </a:solidFill>
                <a:latin typeface="Inter"/>
              </a:rPr>
              <a:t>21–33%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583918" y="5780360"/>
            <a:ext cx="3023838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Inter"/>
              </a:rPr>
              <a:t>of YouTube's feed is AI slop or brainrot content.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583918" y="5970360"/>
            <a:ext cx="3023838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9CA3AF"/>
                </a:solidFill>
                <a:latin typeface="Inter"/>
              </a:rPr>
              <a:t>Kapwing, 2026.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8047756" y="5310360"/>
            <a:ext cx="3503838" cy="9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287756" y="5420360"/>
            <a:ext cx="3023838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7857FF"/>
                </a:solidFill>
                <a:latin typeface="Inter"/>
              </a:rPr>
              <a:t>26%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287756" y="5780360"/>
            <a:ext cx="3023838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Inter"/>
              </a:rPr>
              <a:t>of consumers prefer AI creator content (was 60% in '23).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287756" y="5970360"/>
            <a:ext cx="3023838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9CA3AF"/>
                </a:solidFill>
                <a:latin typeface="Inter"/>
              </a:rPr>
              <a:t>Billion Dollar Boy / Digiday, 2026.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Inter"/>
              </a:rPr>
              <a:t>creator experts   ·   internal proposal for aaron langerman   ·   4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